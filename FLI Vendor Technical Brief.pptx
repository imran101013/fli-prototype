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127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85800"/>
            <a:ext cx="2011680" cy="1143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1945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Revamp: Technical Requirements Brief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383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fli-online.org as a modern, responsive, research-friendly WordPress site: design, repository and search, migration, subscribers, SEO, security and performance.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009321" y="4229100"/>
            <a:ext cx="42009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Sadia </a:t>
            </a:r>
            <a:r>
              <a:rPr lang="en-US" sz="15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Maula</a:t>
            </a: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Dad, Technical Consultant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009321" y="4549140"/>
            <a:ext cx="39173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shortlisted vendors | Confidential | 13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site baseline</a:t>
            </a:r>
            <a:endParaRPr lang="en-US" sz="26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"/>
            <a:ext cx="1005840" cy="566928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572000" cy="341985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Practices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Contentful Paint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Contentful Paint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Blocking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shift (CLS)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headers grade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Image 1" descr="/mnt/user-data/uploads/page_performance_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051560"/>
            <a:ext cx="3383280" cy="301752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303520" y="4160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capture shows only a loading screen. Source: Google PageSpeed Insights and a security headers scan, 12 Oct 2026. Current stack: WordPress with Elementor.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45720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must re-measure on the live site during discovery.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 at a glance</a:t>
            </a:r>
            <a:endParaRPr lang="en-US" sz="26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"/>
            <a:ext cx="1005840" cy="566928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21024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Performance, mobile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Performance, desktop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Practices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Contentful Paint (mobile)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s or 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Contentful Paint (mobile)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s or 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Blocking Time (mobile)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ms or 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shift (CLS)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or 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headers grade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 (Lighthouse)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WCAG 2.1 AA on core templates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fixes and targets</a:t>
            </a:r>
            <a:endParaRPr lang="en-US" sz="26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"/>
            <a:ext cx="1005840" cy="566928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12724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 (mobile unless noted)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Loading screen blocks first paint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Remove, or make non-blocking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content in first paint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Render-blocking requests (2,930 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critical CSS, defer the rest, lean theme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cleared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 display (580 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Self-host, font-display: swap, preload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cleared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LCP discovery, request chains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Preload hero image, avoid chains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LCP at most 2.5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lifetimes (72-95 KiB), legacy 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cache headers (CDN allowed), modern 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Audits cleared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 (55 KiB mobile, 203 KiB desktop)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WebP/AVIF, srcset, lazy-load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oversize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Unused JS 126 KiB, CSS 25 KiB, minify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unused plugin assets, minify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Audits cleared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Animations, long task, forced reflow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Animate transform/opacity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TBT at most 200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on key templates: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Performance 85+ (desktop 95+), FCP at most 1.8 s, LCP at most 2.5 s, CLS at most 0.1, Best Practices 100.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26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"/>
            <a:ext cx="1005840" cy="566928"/>
          </a:xfrm>
          <a:prstGeom prst="rect">
            <a:avLst/>
          </a:prstGeom>
        </p:spPr>
      </p:pic>
      <p:pic>
        <p:nvPicPr>
          <p:cNvPr id="4" name="Image 1" descr="/mnt/user-data/uploads/security_issu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4572000" cy="240487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3566160"/>
            <a:ext cx="4572000" cy="1188720"/>
          </a:xfrm>
          <a:prstGeom prst="roundRect">
            <a:avLst>
              <a:gd name="adj" fmla="val 461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" y="3639312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Strict-Transport-Security: max-age=31536000; includeSubDomains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X-Frame-Options: SAMEORIGIN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X-Content-Type-Options: nosniff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Referrer-Policy: strict-origin-when-cross-origin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Permissions-Policy: camera=(), microphone=(), geolocation=()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5212080" y="1051560"/>
            <a:ext cx="3474720" cy="3703320"/>
          </a:xfrm>
          <a:prstGeom prst="roundRect">
            <a:avLst>
              <a:gd name="adj" fmla="val 210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34924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349240" y="1508760"/>
            <a:ext cx="32004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five missing headers; target grade A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CSP: add frame-ancestors, avoid broad unsafe-inline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HTTPS with a 301; roll out HSTS in stages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or Cloudflare, admin 2FA, login protection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daily off-site backups; defined update policy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temporary migration files after verification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SEO</a:t>
            </a:r>
            <a:endParaRPr lang="en-US" sz="26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"/>
            <a:ext cx="1005840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visibility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"noindex, nofollow" before launch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SEO 90+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titles under 60 characters; meta descriptions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H1 per page, logical heading order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Crawlable links with descriptive text; no "#" or bare "Learn more"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Canonicals, XML sitemap, robots controls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and tracking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markup: Organization, Event, book and scholarly article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map for every old URL, including /site/ paths and placeholder pages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consistent URLs; no duplicate "-2" pages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linking plan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 and GA4 (both free), monthly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SEO: content and discoverability</a:t>
            </a:r>
            <a:endParaRPr lang="en-US" sz="26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"/>
            <a:ext cx="1005840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and on-page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and search-intent research for researchers, language communities, partners and donors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and meta descriptions written for each key page, per language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headings, URLs, image file names and alt text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sharing previews (Open Graph)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Breadcrumbs and internal links between related publications, languages and news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and research reach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tags and hreflang for English and Urdu pages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Search-friendly metadata for RTL pages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metadata (title, author, year, abstract, PDF link) in scholarly-indexing formats where feasible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checked with Google tools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with proper titles and properties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SEO: launch and monitoring</a:t>
            </a:r>
            <a:endParaRPr lang="en-US" sz="26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"/>
            <a:ext cx="1005840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launch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snapshot: top pages, Search Console data, backlinks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blocked from search; "noindex" absent on the live site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old URL tested against the redirect map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robots.txt, canonicals, HTTPS and sitemap reviewed; sitemap submitted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SEO 90+ and PageSpeed targets met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</a:t>
            </a:r>
            <a:r>
              <a:rPr lang="en-US" sz="1500" b="1" dirty="0" smtClean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</a:t>
            </a: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after launch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checks of indexing, crawl errors and 404s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redirect or indexing problems quickly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impressions and clicks with the baseline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dashboard from GA4 and Search Console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written report to FLI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handover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 will monitor the Monthly dashboard for next 2-3 month after launch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Design, UX and responsive layout</a:t>
            </a:r>
            <a:endParaRPr lang="en-US" sz="26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"/>
            <a:ext cx="1005840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responsive layout (mandatory)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dated look with a clean, modern, card-based design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fluid grid; tested at 360, 768, 1024 and 1440 px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horizontal scrolling; touch targets at least 44 px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typography, responsive images, simple sticky navigation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Wireframes, two clickable design directions, 2 revision rounds, design system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Real-device testing on common Android and iOS phones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Accessibility, language and conversion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AA: contrast, keyboard, focus, alt-text workflow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and RTL layouts; Unicode fonts for indigenous scripts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at most 3 levels; prominent global search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calls to action: donate, partner, volunteer, subscribe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impact figures; remove unsupported claims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footer: privacy, terms, address, working email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structure and content</a:t>
            </a:r>
            <a:endParaRPr lang="en-US" sz="26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"/>
            <a:ext cx="1005840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2651760" cy="3703320"/>
          </a:xfrm>
          <a:prstGeom prst="roundRect">
            <a:avLst>
              <a:gd name="adj" fmla="val 2759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sections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2377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FLI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/ Our Work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and Communities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Publications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and Events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and Resources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Involved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46120" y="1051560"/>
            <a:ext cx="2651760" cy="3703320"/>
          </a:xfrm>
          <a:prstGeom prst="roundRect">
            <a:avLst>
              <a:gd name="adj" fmla="val 2759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types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508760"/>
            <a:ext cx="2377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/ Programmes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structure confirmed in discovery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1051560"/>
            <a:ext cx="2651760" cy="3703320"/>
          </a:xfrm>
          <a:prstGeom prst="roundRect">
            <a:avLst>
              <a:gd name="adj" fmla="val 2759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Publishing features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508760"/>
            <a:ext cx="2377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/ news and event listings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integration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and engagement forms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pages: abstract, citation, download, related items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email templates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and external links checked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Research, CMS and email</a:t>
            </a:r>
            <a:endParaRPr lang="en-US" sz="26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"/>
            <a:ext cx="1005840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2651760" cy="3703320"/>
          </a:xfrm>
          <a:prstGeom prst="roundRect">
            <a:avLst>
              <a:gd name="adj" fmla="val 2759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repository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2377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title, author, year, language, type, topic, series, ISBN, summary, cover, file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Faceted filters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full-text search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and scholarly schema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46120" y="1051560"/>
            <a:ext cx="2651760" cy="3703320"/>
          </a:xfrm>
          <a:prstGeom prst="roundRect">
            <a:avLst>
              <a:gd name="adj" fmla="val 2759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 and roles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508760"/>
            <a:ext cx="2377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admin, editor, author, contributor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blocks and layouts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publish without a developer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fields keep layouts safe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1051560"/>
            <a:ext cx="2651760" cy="3703320"/>
          </a:xfrm>
          <a:prstGeom prst="roundRect">
            <a:avLst>
              <a:gd name="adj" fmla="val 2759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Subscribers and email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508760"/>
            <a:ext cx="2377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export, dedupe, keep consent status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report; delete temp files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opt-in, one-click unsubscribe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emails via Mailchimp, Brevo or equivalent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Language, compliance, migration</a:t>
            </a:r>
            <a:endParaRPr lang="en-US" sz="26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"/>
            <a:ext cx="1005840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2651760" cy="3703320"/>
          </a:xfrm>
          <a:prstGeom prst="roundRect">
            <a:avLst>
              <a:gd name="adj" fmla="val 2759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2377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Urdu with RTL at launch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ready for indigenous scripts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language map, tree and relatedness pages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46120" y="1051560"/>
            <a:ext cx="2651760" cy="3703320"/>
          </a:xfrm>
          <a:prstGeom prst="roundRect">
            <a:avLst>
              <a:gd name="adj" fmla="val 2759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and compliance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508760"/>
            <a:ext cx="2377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spam traps; add consent text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cookie banner: fonts, maps, avatars, video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 and terms pages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protection on all forms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1051560"/>
            <a:ext cx="2651760" cy="3703320"/>
          </a:xfrm>
          <a:prstGeom prst="roundRect">
            <a:avLst>
              <a:gd name="adj" fmla="val 2759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migration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508760"/>
            <a:ext cx="2377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fonts, software, keyboards, publication series, newsletters, news archive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stale items (COVID-19) with approval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broken and duplicate pages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and design</a:t>
            </a:r>
            <a:endParaRPr lang="en-US" sz="26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"/>
            <a:ext cx="1005840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audit and inventory spreadsheet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workshops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 user interviews: researchers, partners, community users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Sitemap, taxonomy and user journeys approved before design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for key templates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clickable design directions to choose from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 revision rounds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pages: Home, About, listing, resource detail, News/Event, Contact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Build, QA and handover</a:t>
            </a:r>
            <a:endParaRPr lang="en-US" sz="26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"/>
            <a:ext cx="1005840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QA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site, weekly demos, written status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 manager; sign-off at each phase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Cross-browser, link, redirect, metadata, sitemap and backup/restore checks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consolidated UAT correction cycle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and handover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cutover and go-live monitoring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training sessions (90 min; in person in Islamabad if needed)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guide and short videos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 and licences in the name of FLI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support minimum; maintenance plan priced separately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Dependencies and scope limits</a:t>
            </a:r>
            <a:endParaRPr lang="en-US" sz="26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"/>
            <a:ext cx="1005840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 provides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hosting and domain/DNS access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subscriber source access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Search Console access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assets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focal person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feedback within 2-3 working days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Copywriting and translation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of scanned archives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and member portals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systems: the donate button links to the existing method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databases outside WordPress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is quoted separately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tests</a:t>
            </a:r>
            <a:endParaRPr lang="en-US" sz="26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"/>
            <a:ext cx="1005840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PageSpeed re-run, mobile and desktop, against the targets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 scan: grade A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checks, including keyboard use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and real-device checks, phones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</a:p>
          <a:p>
            <a:pPr marL="342900" indent="-342900">
              <a:spcAft>
                <a:spcPts val="3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SEO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targets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300" dirty="0"/>
          </a:p>
          <a:p>
            <a:pPr>
              <a:spcAft>
                <a:spcPts val="300"/>
              </a:spcAft>
              <a:buSzPct val="100000"/>
            </a:pP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and email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old URL tested against the redirect map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readiness: no "noindex", sitemap, Search Console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flows: sign-up, confirmation, unsubscribe, notification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and restore test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still need from you</a:t>
            </a:r>
            <a:endParaRPr lang="en-US" sz="26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"/>
            <a:ext cx="1005840" cy="566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Please do not resend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breakdown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milestones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description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and company profile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6F1F1"/>
          </a:solidFill>
          <a:ln w="12700">
            <a:solidFill>
              <a:srgbClr val="F6F1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Please send only what is missing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08760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costs not yet priced: add-on licences, email platform tier, maintenance plan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verifiable references with contact details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confirmation of the targets in this brief, including modern phone-friendly design, Urdu/RTL and the donate/partner button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change affects price or schedule, state only the change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1622</Words>
  <Application>Microsoft Office PowerPoint</Application>
  <PresentationFormat>On-screen Show (16:9)</PresentationFormat>
  <Paragraphs>309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Saadiya B</cp:lastModifiedBy>
  <cp:revision>3</cp:revision>
  <dcterms:created xsi:type="dcterms:W3CDTF">2026-10-13T00:35:25Z</dcterms:created>
  <dcterms:modified xsi:type="dcterms:W3CDTF">2026-10-13T00:44:35Z</dcterms:modified>
</cp:coreProperties>
</file>